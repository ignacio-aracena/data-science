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9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26480" y="0"/>
            <a:ext cx="3017520" cy="51435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126480" cy="6400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2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 ·  A42  ·  TP2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713232"/>
            <a:ext cx="5394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Análisis de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Riesgo de Crédito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502920" y="2578608"/>
            <a:ext cx="5394960" cy="0"/>
          </a:xfrm>
          <a:prstGeom prst="line">
            <a:avLst/>
          </a:prstGeom>
          <a:noFill/>
          <a:ln w="12700">
            <a:solidFill>
              <a:srgbClr val="0B25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706624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 Credit Dataset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3017520"/>
            <a:ext cx="5394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Dr. Hans Hofmann  ·  Universität Hamburg  ·  1994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02920" y="4800600"/>
            <a:ext cx="539496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4846320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de Crédito  ·  Credit Scoring  ·  Regresión Logística L1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400800" y="25603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spc="200" kern="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6400800" y="594360"/>
            <a:ext cx="320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784848" y="59436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&amp; Dataset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0" y="1069848"/>
            <a:ext cx="320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784848" y="106984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Exploratorio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0" y="1545336"/>
            <a:ext cx="320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784848" y="1545336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Selección de Variables (IV)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0" y="2020824"/>
            <a:ext cx="320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784848" y="202082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&amp; Pipeline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0" y="2496312"/>
            <a:ext cx="320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784848" y="249631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0800" y="2971800"/>
            <a:ext cx="320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784848" y="297180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Asimétrico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0800" y="3447288"/>
            <a:ext cx="320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784848" y="344728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Interpretabilidad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00800" y="3922776"/>
            <a:ext cx="320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784848" y="3922776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Scorecard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00800" y="4398264"/>
            <a:ext cx="320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784848" y="439826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321040" y="48920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14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1945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PROBLEMA &amp; DATASET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43891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problema: reproducir el criterio de aprobación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1170432"/>
            <a:ext cx="82296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8016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1.000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02920" y="182880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solicitudes de préstamo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624328" y="128016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453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700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2624328" y="182880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buenos pagadores · 70%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745736" y="128016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99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300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4745736" y="182880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malos pagadores · 30%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867144" y="128016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6867144" y="182880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predictoras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02920" y="2148840"/>
            <a:ext cx="82296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231136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DESAFÍO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502920" y="2414016"/>
            <a:ext cx="4023360" cy="0"/>
          </a:xfrm>
          <a:prstGeom prst="line">
            <a:avLst/>
          </a:prstGeom>
          <a:noFill/>
          <a:ln w="9525">
            <a:solidFill>
              <a:srgbClr val="0B254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2505456"/>
            <a:ext cx="36576" cy="457200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" y="250545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 pequeña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240280" y="2505456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 registros con 20 variables. Muchas tendrán estimaciones estadísticas inestables → selección de variables es crítica.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02920" y="3108960"/>
            <a:ext cx="36576" cy="457200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0936" y="310896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codificadas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240280" y="31089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categóricas con códigos tipo A11, A32. Requieren decodificador german_clean.doc y análisis de bad rate por categoría.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02920" y="3712464"/>
            <a:ext cx="36576" cy="457200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936" y="371246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valores faltantes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240280" y="3712464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nulos, 0 duplicados. Dataset de alta calidad, preparado para modelado directo.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02920" y="4315968"/>
            <a:ext cx="36576" cy="457200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936" y="4315968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históricos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240280" y="431596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alemán, años '90, Deutsche Marks. Patrones pueden no transferirse a otros contextos sin reentrenamiento.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54880" y="2231136"/>
            <a:ext cx="402336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2148840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DE COSTOS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4754880" y="2414016"/>
            <a:ext cx="4023360" cy="0"/>
          </a:xfrm>
          <a:prstGeom prst="line">
            <a:avLst/>
          </a:prstGeom>
          <a:noFill/>
          <a:ln w="9525">
            <a:solidFill>
              <a:srgbClr val="0B254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248716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 →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309360" y="248716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BUENO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498080" y="248716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MALO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754880" y="279806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4754880" y="2999232"/>
            <a:ext cx="594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BUENO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309360" y="2798064"/>
            <a:ext cx="1097280" cy="621792"/>
          </a:xfrm>
          <a:prstGeom prst="rect">
            <a:avLst/>
          </a:prstGeom>
          <a:solidFill>
            <a:srgbClr val="F0FDF4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09360" y="2798064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000" dirty="0"/>
          </a:p>
        </p:txBody>
      </p:sp>
      <p:sp>
        <p:nvSpPr>
          <p:cNvPr id="39" name="Shape 37"/>
          <p:cNvSpPr/>
          <p:nvPr/>
        </p:nvSpPr>
        <p:spPr>
          <a:xfrm>
            <a:off x="7498080" y="2798064"/>
            <a:ext cx="1097280" cy="621792"/>
          </a:xfrm>
          <a:prstGeom prst="rect">
            <a:avLst/>
          </a:prstGeom>
          <a:solidFill>
            <a:srgbClr val="F9F8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498080" y="2798064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4754880" y="351129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4754880" y="3712464"/>
            <a:ext cx="594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MALO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309360" y="3511296"/>
            <a:ext cx="1097280" cy="621792"/>
          </a:xfrm>
          <a:prstGeom prst="rect">
            <a:avLst/>
          </a:prstGeom>
          <a:solidFill>
            <a:srgbClr val="FEF2F2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09360" y="3511296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★</a:t>
            </a:r>
            <a:endParaRPr lang="en-US" sz="2000" dirty="0"/>
          </a:p>
        </p:txBody>
      </p:sp>
      <p:sp>
        <p:nvSpPr>
          <p:cNvPr id="45" name="Shape 43"/>
          <p:cNvSpPr/>
          <p:nvPr/>
        </p:nvSpPr>
        <p:spPr>
          <a:xfrm>
            <a:off x="7498080" y="3511296"/>
            <a:ext cx="1097280" cy="621792"/>
          </a:xfrm>
          <a:prstGeom prst="rect">
            <a:avLst/>
          </a:prstGeom>
          <a:solidFill>
            <a:srgbClr val="F0FDF4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498080" y="3511296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000" dirty="0"/>
          </a:p>
        </p:txBody>
      </p:sp>
      <p:sp>
        <p:nvSpPr>
          <p:cNvPr id="47" name="Text 45"/>
          <p:cNvSpPr/>
          <p:nvPr/>
        </p:nvSpPr>
        <p:spPr>
          <a:xfrm>
            <a:off x="4754880" y="425196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Malo aprobado (FN) cuesta 5× más que bueno rechazado (FP).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754880" y="45262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 desplaza el threshold óptimo por debajo de 0.50 y define la métrica objetivo: minimizar 5×FN + 1×FP.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8321040" y="48920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1945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ANÁLISIS EXPLORATORIO  ·  VARIABLES NUMÉRICAS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43891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Mann-Whitney: 4 de 7 numéricas discriminan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1170432"/>
            <a:ext cx="82296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43584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502920" y="142646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Mann-Whitney U (no paramétrico)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64408" y="1243584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264408" y="142646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Detectar diferencias de mediana entre buenos y malos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025896" y="1243584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ESPERADO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6025896" y="142646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crediticias con efecto significativo (p&lt;0.05)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02920" y="1737360"/>
            <a:ext cx="82296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1792224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2331720" y="179222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buenos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337560" y="179222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malos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4297680" y="1792224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5120640" y="1792224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Sig.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5943600" y="1792224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Skew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6812280" y="1792224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7772400" y="1792224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502920" y="2011680"/>
            <a:ext cx="8229600" cy="0"/>
          </a:xfrm>
          <a:prstGeom prst="line">
            <a:avLst/>
          </a:prstGeom>
          <a:noFill/>
          <a:ln w="9525">
            <a:solidFill>
              <a:srgbClr val="0B254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" y="2057400"/>
            <a:ext cx="8229600" cy="374904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2084832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duracion_meses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331720" y="208483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19.21 m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337560" y="208483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24.86 m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297680" y="2084832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&lt;0.001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120640" y="2084832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***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943600" y="2084832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1.094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812280" y="2084832"/>
            <a:ext cx="896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7772400" y="208483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Seleccionada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02920" y="2487168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monto_credito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2331720" y="248716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2.985 DM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337560" y="248716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3.938 DM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297680" y="2487168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0.006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120640" y="2487168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**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943600" y="2487168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1.950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812280" y="2487168"/>
            <a:ext cx="896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7772400" y="2487168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Seleccionada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02920" y="2862072"/>
            <a:ext cx="8229600" cy="374904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2920" y="2889504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tasa_cuota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2331720" y="2889504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2.92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3337560" y="2889504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3.10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297680" y="2889504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0.020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5120640" y="2889504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5943600" y="2889504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-0.531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812280" y="2889504"/>
            <a:ext cx="896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7772400" y="2889504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Seleccionada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02920" y="329184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edad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2331720" y="329184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36.2 años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3337560" y="329184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33.96 años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4297680" y="3291840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0.0004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5120640" y="3291840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***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5943600" y="329184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1.021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6812280" y="3291840"/>
            <a:ext cx="896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7772400" y="329184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Seleccionada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502920" y="3694176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anios_residencia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2331720" y="3694176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2.84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3337560" y="3694176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2.85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4297680" y="3694176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0.936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5120640" y="3694176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5943600" y="3694176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-0.273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6812280" y="3694176"/>
            <a:ext cx="896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7772400" y="369417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Descartada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502920" y="4096512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num_creditos_banco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2331720" y="409651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1.42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3337560" y="409651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1.37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4297680" y="4096512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0.135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5120640" y="4096512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5943600" y="4096512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1.273</a:t>
            </a:r>
            <a:endParaRPr lang="en-US" sz="950" dirty="0"/>
          </a:p>
        </p:txBody>
      </p:sp>
      <p:sp>
        <p:nvSpPr>
          <p:cNvPr id="70" name="Text 68"/>
          <p:cNvSpPr/>
          <p:nvPr/>
        </p:nvSpPr>
        <p:spPr>
          <a:xfrm>
            <a:off x="6812280" y="4096512"/>
            <a:ext cx="896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  <p:sp>
        <p:nvSpPr>
          <p:cNvPr id="71" name="Text 69"/>
          <p:cNvSpPr/>
          <p:nvPr/>
        </p:nvSpPr>
        <p:spPr>
          <a:xfrm>
            <a:off x="7772400" y="409651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Descartada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502920" y="4498848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num_dependientes</a:t>
            </a:r>
            <a:endParaRPr lang="en-US" sz="950" dirty="0"/>
          </a:p>
        </p:txBody>
      </p:sp>
      <p:sp>
        <p:nvSpPr>
          <p:cNvPr id="73" name="Text 71"/>
          <p:cNvSpPr/>
          <p:nvPr/>
        </p:nvSpPr>
        <p:spPr>
          <a:xfrm>
            <a:off x="2331720" y="449884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1.16</a:t>
            </a:r>
            <a:endParaRPr lang="en-US" sz="950" dirty="0"/>
          </a:p>
        </p:txBody>
      </p:sp>
      <p:sp>
        <p:nvSpPr>
          <p:cNvPr id="74" name="Text 72"/>
          <p:cNvSpPr/>
          <p:nvPr/>
        </p:nvSpPr>
        <p:spPr>
          <a:xfrm>
            <a:off x="3337560" y="449884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1.15</a:t>
            </a:r>
            <a:endParaRPr lang="en-US" sz="950" dirty="0"/>
          </a:p>
        </p:txBody>
      </p:sp>
      <p:sp>
        <p:nvSpPr>
          <p:cNvPr id="75" name="Text 73"/>
          <p:cNvSpPr/>
          <p:nvPr/>
        </p:nvSpPr>
        <p:spPr>
          <a:xfrm>
            <a:off x="4297680" y="4498848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0.924</a:t>
            </a:r>
            <a:endParaRPr lang="en-US" sz="950" dirty="0"/>
          </a:p>
        </p:txBody>
      </p:sp>
      <p:sp>
        <p:nvSpPr>
          <p:cNvPr id="76" name="Text 74"/>
          <p:cNvSpPr/>
          <p:nvPr/>
        </p:nvSpPr>
        <p:spPr>
          <a:xfrm>
            <a:off x="5120640" y="4498848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</a:t>
            </a:r>
            <a:endParaRPr lang="en-US" sz="950" dirty="0"/>
          </a:p>
        </p:txBody>
      </p:sp>
      <p:sp>
        <p:nvSpPr>
          <p:cNvPr id="77" name="Text 75"/>
          <p:cNvSpPr/>
          <p:nvPr/>
        </p:nvSpPr>
        <p:spPr>
          <a:xfrm>
            <a:off x="5943600" y="4498848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1.909</a:t>
            </a:r>
            <a:endParaRPr lang="en-US" sz="950" dirty="0"/>
          </a:p>
        </p:txBody>
      </p:sp>
      <p:sp>
        <p:nvSpPr>
          <p:cNvPr id="78" name="Text 76"/>
          <p:cNvSpPr/>
          <p:nvPr/>
        </p:nvSpPr>
        <p:spPr>
          <a:xfrm>
            <a:off x="6812280" y="4498848"/>
            <a:ext cx="896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155 †</a:t>
            </a:r>
            <a:endParaRPr lang="en-US" sz="950" dirty="0"/>
          </a:p>
        </p:txBody>
      </p:sp>
      <p:sp>
        <p:nvSpPr>
          <p:cNvPr id="79" name="Text 77"/>
          <p:cNvSpPr/>
          <p:nvPr/>
        </p:nvSpPr>
        <p:spPr>
          <a:xfrm>
            <a:off x="7772400" y="4498848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Descartada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502920" y="4846320"/>
            <a:ext cx="82296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502920" y="488289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† num_dependientes: 155 outliers son artefacto estadístico. IQR = 0 → cualquier desvío de la mediana queda fuera del bigote. No son errores de datos. Confirmado: IV = 0.000.</a:t>
            </a:r>
            <a:endParaRPr lang="en-US" sz="800" dirty="0"/>
          </a:p>
        </p:txBody>
      </p:sp>
      <p:sp>
        <p:nvSpPr>
          <p:cNvPr id="82" name="Text 80"/>
          <p:cNvSpPr/>
          <p:nvPr/>
        </p:nvSpPr>
        <p:spPr>
          <a:xfrm>
            <a:off x="8321040" y="48920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1945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ANÁLISIS EXPLORATORIO  ·  VARIABLES CATEGÓRICAS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43891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Chi-cuadrado y bad rate: historial_credito lidera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1170432"/>
            <a:ext cx="82296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43584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502920" y="142646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Chi² + bad rate por categoría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64408" y="1243584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264408" y="142646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Cuantificar asociación entre variable categórica y mora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025896" y="1243584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ESPERADO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6025896" y="142646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con spreads altos y p&lt;0.05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02920" y="1737360"/>
            <a:ext cx="82296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1801368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DE BAD RATE  (máx − mín por variable)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502920" y="1984248"/>
            <a:ext cx="4206240" cy="0"/>
          </a:xfrm>
          <a:prstGeom prst="line">
            <a:avLst/>
          </a:prstGeom>
          <a:noFill/>
          <a:ln w="9525">
            <a:solidFill>
              <a:srgbClr val="0B254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0482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historial_credito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423160" y="2112264"/>
            <a:ext cx="1371600" cy="155448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423160" y="2112264"/>
            <a:ext cx="1245413" cy="15544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58768" y="2048256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45.4 pts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2920" y="23957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9240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cuenta_corriente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423160" y="2459736"/>
            <a:ext cx="1371600" cy="155448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423160" y="2459736"/>
            <a:ext cx="1031443" cy="155448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58768" y="239572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37.6 pts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02920" y="2743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proposito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423160" y="2807208"/>
            <a:ext cx="1371600" cy="155448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423160" y="2807208"/>
            <a:ext cx="902513" cy="15544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58768" y="274320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32.9 pts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02920" y="30906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otros_deudores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423160" y="3154680"/>
            <a:ext cx="1371600" cy="155448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423160" y="3154680"/>
            <a:ext cx="677570" cy="15544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58768" y="309067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24.7 pts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02920" y="343814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ahorros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423160" y="3502152"/>
            <a:ext cx="1371600" cy="155448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423160" y="3502152"/>
            <a:ext cx="644652" cy="15544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858768" y="3438144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23.5 pts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02920" y="37856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propiedad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423160" y="3849624"/>
            <a:ext cx="1371600" cy="155448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423160" y="3849624"/>
            <a:ext cx="608990" cy="15544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858768" y="3785616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22.2 pts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02920" y="4133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tipo_trabajo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2423160" y="4197096"/>
            <a:ext cx="1371600" cy="155448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423160" y="4197096"/>
            <a:ext cx="178308" cy="155448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858768" y="413308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6.5 pts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02920" y="4480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telefono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2423160" y="4544568"/>
            <a:ext cx="1371600" cy="155448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423160" y="4544568"/>
            <a:ext cx="93269" cy="155448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858768" y="448056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 pts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029200" y="1801368"/>
            <a:ext cx="374904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029200" y="171907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PARADOJAS — RESULTADOS CLAVE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5029200" y="1984248"/>
            <a:ext cx="3749040" cy="0"/>
          </a:xfrm>
          <a:prstGeom prst="line">
            <a:avLst/>
          </a:prstGeom>
          <a:noFill/>
          <a:ln w="9525">
            <a:solidFill>
              <a:srgbClr val="0B2545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029200" y="2048256"/>
            <a:ext cx="36576" cy="603504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212080" y="2048256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historial previo = mayor riesgo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5212080" y="22860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A30 (sin créditos): bad rate 62.5%. Incertidumbre máxima cuando el banco carece de información previa del cliente.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5029200" y="2798064"/>
            <a:ext cx="36576" cy="603504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212080" y="279806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 crítica = menor riesgo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5212080" y="303580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A34 (créditos en otros bancos): 17.1%. Renegó deudas exitosamente → demostró capacidad de pago.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5029200" y="3547872"/>
            <a:ext cx="36576" cy="603504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212080" y="354787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cuenta corriente = menor riesgo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5212080" y="378561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A14 (sin cuenta): 11.7% — el más bajo del dataset. Mayor cautela financiera.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5029200" y="4297680"/>
            <a:ext cx="36576" cy="603504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212080" y="429768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Empleo &lt;1 año supera al desempleado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5212080" y="4535424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A72: 40.7% vs A71 (desempleado): 37.1%. Ingresos aún inestables en el nuevo empleo.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8321040" y="48920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1945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ANÁLISIS EXPLORATORIO  ·  CORRELACIONES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43891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Correlaciones: sin multicolinealidad severa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1170432"/>
            <a:ext cx="82296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43584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502920" y="142646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Correlación de Pearson + heatmap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64408" y="1243584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264408" y="142646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Detectar multicolinealidad que justifique descartar variables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025896" y="1243584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CONCLUSIÓN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6025896" y="142646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Ningún par supera umbral |r| &gt; 0.70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02920" y="1737360"/>
            <a:ext cx="82296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1801368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DE CORRELACIÓN  (numéricas)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502920" y="1984248"/>
            <a:ext cx="4023360" cy="0"/>
          </a:xfrm>
          <a:prstGeom prst="line">
            <a:avLst/>
          </a:prstGeom>
          <a:noFill/>
          <a:ln w="9525">
            <a:solidFill>
              <a:srgbClr val="0B254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69848" y="2048256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dur.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1554480" y="2048256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monto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2039112" y="2048256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2523744" y="2048256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resid.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3008376" y="2048256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edad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3493008" y="2048256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créd.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3977640" y="2048256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dep.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502920" y="2231136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dur.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502920" y="2615184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monto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502920" y="2999232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502920" y="3383280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resid.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502920" y="3767328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edad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502920" y="4151376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créd.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502920" y="4535424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dep.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1069848" y="2231136"/>
            <a:ext cx="45720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69848" y="2231136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1554480" y="2231136"/>
            <a:ext cx="45720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54480" y="2231136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0.63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2039112" y="2231136"/>
            <a:ext cx="457200" cy="347472"/>
          </a:xfrm>
          <a:prstGeom prst="rect">
            <a:avLst/>
          </a:prstGeom>
          <a:solidFill>
            <a:srgbClr val="FCA5A5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039112" y="2231136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-0.27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2523744" y="2231136"/>
            <a:ext cx="457200" cy="347472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523744" y="2231136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0.06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3008376" y="2231136"/>
            <a:ext cx="457200" cy="347472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008376" y="2231136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3493008" y="2231136"/>
            <a:ext cx="457200" cy="347472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93008" y="2231136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3977640" y="2231136"/>
            <a:ext cx="457200" cy="347472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977640" y="2231136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-0.03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1069848" y="2615184"/>
            <a:ext cx="45720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69848" y="2615184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0.63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1554480" y="2615184"/>
            <a:ext cx="45720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554480" y="2615184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2039112" y="2615184"/>
            <a:ext cx="457200" cy="347472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039112" y="2615184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-0.18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2523744" y="2615184"/>
            <a:ext cx="457200" cy="347472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523744" y="2615184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0.03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3008376" y="2615184"/>
            <a:ext cx="457200" cy="347472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008376" y="2615184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-0.03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3493008" y="2615184"/>
            <a:ext cx="457200" cy="347472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493008" y="2615184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0.02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3977640" y="2615184"/>
            <a:ext cx="457200" cy="347472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977640" y="2615184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-0.01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1069848" y="2999232"/>
            <a:ext cx="457200" cy="347472"/>
          </a:xfrm>
          <a:prstGeom prst="rect">
            <a:avLst/>
          </a:prstGeom>
          <a:solidFill>
            <a:srgbClr val="FCA5A5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069848" y="299923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-0.27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1554480" y="2999232"/>
            <a:ext cx="457200" cy="347472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554480" y="299923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-0.18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2039112" y="2999232"/>
            <a:ext cx="45720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039112" y="299923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2523744" y="2999232"/>
            <a:ext cx="457200" cy="347472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523744" y="299923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3008376" y="2999232"/>
            <a:ext cx="457200" cy="347472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008376" y="299923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-0.06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3493008" y="2999232"/>
            <a:ext cx="457200" cy="347472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493008" y="299923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-0.07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3977640" y="2999232"/>
            <a:ext cx="457200" cy="347472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977640" y="299923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-0.08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1069848" y="3383280"/>
            <a:ext cx="457200" cy="347472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1069848" y="338328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0.06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1554480" y="3383280"/>
            <a:ext cx="457200" cy="347472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554480" y="338328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0.03</a:t>
            </a:r>
            <a:endParaRPr lang="en-US" sz="750" dirty="0"/>
          </a:p>
        </p:txBody>
      </p:sp>
      <p:sp>
        <p:nvSpPr>
          <p:cNvPr id="75" name="Shape 73"/>
          <p:cNvSpPr/>
          <p:nvPr/>
        </p:nvSpPr>
        <p:spPr>
          <a:xfrm>
            <a:off x="2039112" y="3383280"/>
            <a:ext cx="457200" cy="347472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2039112" y="338328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</a:t>
            </a:r>
            <a:endParaRPr lang="en-US" sz="750" dirty="0"/>
          </a:p>
        </p:txBody>
      </p:sp>
      <p:sp>
        <p:nvSpPr>
          <p:cNvPr id="77" name="Shape 75"/>
          <p:cNvSpPr/>
          <p:nvPr/>
        </p:nvSpPr>
        <p:spPr>
          <a:xfrm>
            <a:off x="2523744" y="3383280"/>
            <a:ext cx="45720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2523744" y="338328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750" dirty="0"/>
          </a:p>
        </p:txBody>
      </p:sp>
      <p:sp>
        <p:nvSpPr>
          <p:cNvPr id="79" name="Shape 77"/>
          <p:cNvSpPr/>
          <p:nvPr/>
        </p:nvSpPr>
        <p:spPr>
          <a:xfrm>
            <a:off x="3008376" y="3383280"/>
            <a:ext cx="457200" cy="347472"/>
          </a:xfrm>
          <a:prstGeom prst="rect">
            <a:avLst/>
          </a:prstGeom>
          <a:solidFill>
            <a:srgbClr val="3B5998"/>
          </a:solidFill>
          <a:ln w="12700">
            <a:solidFill>
              <a:srgbClr val="3B5998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3008376" y="338328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0.27</a:t>
            </a:r>
            <a:endParaRPr lang="en-US" sz="750" dirty="0"/>
          </a:p>
        </p:txBody>
      </p:sp>
      <p:sp>
        <p:nvSpPr>
          <p:cNvPr id="81" name="Shape 79"/>
          <p:cNvSpPr/>
          <p:nvPr/>
        </p:nvSpPr>
        <p:spPr>
          <a:xfrm>
            <a:off x="3493008" y="3383280"/>
            <a:ext cx="457200" cy="347472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3493008" y="338328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0.10</a:t>
            </a:r>
            <a:endParaRPr lang="en-US" sz="750" dirty="0"/>
          </a:p>
        </p:txBody>
      </p:sp>
      <p:sp>
        <p:nvSpPr>
          <p:cNvPr id="83" name="Shape 81"/>
          <p:cNvSpPr/>
          <p:nvPr/>
        </p:nvSpPr>
        <p:spPr>
          <a:xfrm>
            <a:off x="3977640" y="3383280"/>
            <a:ext cx="457200" cy="347472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3977640" y="338328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0.04</a:t>
            </a:r>
            <a:endParaRPr lang="en-US" sz="750" dirty="0"/>
          </a:p>
        </p:txBody>
      </p:sp>
      <p:sp>
        <p:nvSpPr>
          <p:cNvPr id="85" name="Shape 83"/>
          <p:cNvSpPr/>
          <p:nvPr/>
        </p:nvSpPr>
        <p:spPr>
          <a:xfrm>
            <a:off x="1069848" y="3767328"/>
            <a:ext cx="457200" cy="347472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1069848" y="376732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</a:t>
            </a:r>
            <a:endParaRPr lang="en-US" sz="750" dirty="0"/>
          </a:p>
        </p:txBody>
      </p:sp>
      <p:sp>
        <p:nvSpPr>
          <p:cNvPr id="87" name="Shape 85"/>
          <p:cNvSpPr/>
          <p:nvPr/>
        </p:nvSpPr>
        <p:spPr>
          <a:xfrm>
            <a:off x="1554480" y="3767328"/>
            <a:ext cx="457200" cy="347472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1554480" y="376732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-0.03</a:t>
            </a:r>
            <a:endParaRPr lang="en-US" sz="750" dirty="0"/>
          </a:p>
        </p:txBody>
      </p:sp>
      <p:sp>
        <p:nvSpPr>
          <p:cNvPr id="89" name="Shape 87"/>
          <p:cNvSpPr/>
          <p:nvPr/>
        </p:nvSpPr>
        <p:spPr>
          <a:xfrm>
            <a:off x="2039112" y="3767328"/>
            <a:ext cx="457200" cy="347472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2039112" y="376732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-0.06</a:t>
            </a:r>
            <a:endParaRPr lang="en-US" sz="750" dirty="0"/>
          </a:p>
        </p:txBody>
      </p:sp>
      <p:sp>
        <p:nvSpPr>
          <p:cNvPr id="91" name="Shape 89"/>
          <p:cNvSpPr/>
          <p:nvPr/>
        </p:nvSpPr>
        <p:spPr>
          <a:xfrm>
            <a:off x="2523744" y="3767328"/>
            <a:ext cx="457200" cy="347472"/>
          </a:xfrm>
          <a:prstGeom prst="rect">
            <a:avLst/>
          </a:prstGeom>
          <a:solidFill>
            <a:srgbClr val="3B5998"/>
          </a:solidFill>
          <a:ln w="12700">
            <a:solidFill>
              <a:srgbClr val="3B5998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2523744" y="376732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0.27</a:t>
            </a:r>
            <a:endParaRPr lang="en-US" sz="750" dirty="0"/>
          </a:p>
        </p:txBody>
      </p:sp>
      <p:sp>
        <p:nvSpPr>
          <p:cNvPr id="93" name="Shape 91"/>
          <p:cNvSpPr/>
          <p:nvPr/>
        </p:nvSpPr>
        <p:spPr>
          <a:xfrm>
            <a:off x="3008376" y="3767328"/>
            <a:ext cx="45720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3008376" y="376732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750" dirty="0"/>
          </a:p>
        </p:txBody>
      </p:sp>
      <p:sp>
        <p:nvSpPr>
          <p:cNvPr id="95" name="Shape 93"/>
          <p:cNvSpPr/>
          <p:nvPr/>
        </p:nvSpPr>
        <p:spPr>
          <a:xfrm>
            <a:off x="3493008" y="3767328"/>
            <a:ext cx="457200" cy="347472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3493008" y="376732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</a:t>
            </a:r>
            <a:endParaRPr lang="en-US" sz="750" dirty="0"/>
          </a:p>
        </p:txBody>
      </p:sp>
      <p:sp>
        <p:nvSpPr>
          <p:cNvPr id="97" name="Shape 95"/>
          <p:cNvSpPr/>
          <p:nvPr/>
        </p:nvSpPr>
        <p:spPr>
          <a:xfrm>
            <a:off x="3977640" y="3767328"/>
            <a:ext cx="457200" cy="347472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3977640" y="376732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-0.01</a:t>
            </a:r>
            <a:endParaRPr lang="en-US" sz="750" dirty="0"/>
          </a:p>
        </p:txBody>
      </p:sp>
      <p:sp>
        <p:nvSpPr>
          <p:cNvPr id="99" name="Shape 97"/>
          <p:cNvSpPr/>
          <p:nvPr/>
        </p:nvSpPr>
        <p:spPr>
          <a:xfrm>
            <a:off x="1069848" y="4151376"/>
            <a:ext cx="457200" cy="347472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1069848" y="4151376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</a:t>
            </a:r>
            <a:endParaRPr lang="en-US" sz="750" dirty="0"/>
          </a:p>
        </p:txBody>
      </p:sp>
      <p:sp>
        <p:nvSpPr>
          <p:cNvPr id="101" name="Shape 99"/>
          <p:cNvSpPr/>
          <p:nvPr/>
        </p:nvSpPr>
        <p:spPr>
          <a:xfrm>
            <a:off x="1554480" y="4151376"/>
            <a:ext cx="457200" cy="347472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1554480" y="4151376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0.02</a:t>
            </a:r>
            <a:endParaRPr lang="en-US" sz="750" dirty="0"/>
          </a:p>
        </p:txBody>
      </p:sp>
      <p:sp>
        <p:nvSpPr>
          <p:cNvPr id="103" name="Shape 101"/>
          <p:cNvSpPr/>
          <p:nvPr/>
        </p:nvSpPr>
        <p:spPr>
          <a:xfrm>
            <a:off x="2039112" y="4151376"/>
            <a:ext cx="457200" cy="347472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2039112" y="4151376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-0.07</a:t>
            </a:r>
            <a:endParaRPr lang="en-US" sz="750" dirty="0"/>
          </a:p>
        </p:txBody>
      </p:sp>
      <p:sp>
        <p:nvSpPr>
          <p:cNvPr id="105" name="Shape 103"/>
          <p:cNvSpPr/>
          <p:nvPr/>
        </p:nvSpPr>
        <p:spPr>
          <a:xfrm>
            <a:off x="2523744" y="4151376"/>
            <a:ext cx="457200" cy="347472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2523744" y="4151376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0.10</a:t>
            </a:r>
            <a:endParaRPr lang="en-US" sz="750" dirty="0"/>
          </a:p>
        </p:txBody>
      </p:sp>
      <p:sp>
        <p:nvSpPr>
          <p:cNvPr id="107" name="Shape 105"/>
          <p:cNvSpPr/>
          <p:nvPr/>
        </p:nvSpPr>
        <p:spPr>
          <a:xfrm>
            <a:off x="3008376" y="4151376"/>
            <a:ext cx="457200" cy="347472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3008376" y="4151376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</a:t>
            </a:r>
            <a:endParaRPr lang="en-US" sz="750" dirty="0"/>
          </a:p>
        </p:txBody>
      </p:sp>
      <p:sp>
        <p:nvSpPr>
          <p:cNvPr id="109" name="Shape 107"/>
          <p:cNvSpPr/>
          <p:nvPr/>
        </p:nvSpPr>
        <p:spPr>
          <a:xfrm>
            <a:off x="3493008" y="4151376"/>
            <a:ext cx="45720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3493008" y="4151376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750" dirty="0"/>
          </a:p>
        </p:txBody>
      </p:sp>
      <p:sp>
        <p:nvSpPr>
          <p:cNvPr id="111" name="Shape 109"/>
          <p:cNvSpPr/>
          <p:nvPr/>
        </p:nvSpPr>
        <p:spPr>
          <a:xfrm>
            <a:off x="3977640" y="4151376"/>
            <a:ext cx="457200" cy="347472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3977640" y="4151376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0.08</a:t>
            </a:r>
            <a:endParaRPr lang="en-US" sz="750" dirty="0"/>
          </a:p>
        </p:txBody>
      </p:sp>
      <p:sp>
        <p:nvSpPr>
          <p:cNvPr id="113" name="Shape 111"/>
          <p:cNvSpPr/>
          <p:nvPr/>
        </p:nvSpPr>
        <p:spPr>
          <a:xfrm>
            <a:off x="1069848" y="4535424"/>
            <a:ext cx="457200" cy="347472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1069848" y="4535424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-0.03</a:t>
            </a:r>
            <a:endParaRPr lang="en-US" sz="750" dirty="0"/>
          </a:p>
        </p:txBody>
      </p:sp>
      <p:sp>
        <p:nvSpPr>
          <p:cNvPr id="115" name="Shape 113"/>
          <p:cNvSpPr/>
          <p:nvPr/>
        </p:nvSpPr>
        <p:spPr>
          <a:xfrm>
            <a:off x="1554480" y="4535424"/>
            <a:ext cx="457200" cy="347472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1554480" y="4535424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-0.01</a:t>
            </a:r>
            <a:endParaRPr lang="en-US" sz="750" dirty="0"/>
          </a:p>
        </p:txBody>
      </p:sp>
      <p:sp>
        <p:nvSpPr>
          <p:cNvPr id="117" name="Shape 115"/>
          <p:cNvSpPr/>
          <p:nvPr/>
        </p:nvSpPr>
        <p:spPr>
          <a:xfrm>
            <a:off x="2039112" y="4535424"/>
            <a:ext cx="457200" cy="347472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2039112" y="4535424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-0.08</a:t>
            </a:r>
            <a:endParaRPr lang="en-US" sz="750" dirty="0"/>
          </a:p>
        </p:txBody>
      </p:sp>
      <p:sp>
        <p:nvSpPr>
          <p:cNvPr id="119" name="Shape 117"/>
          <p:cNvSpPr/>
          <p:nvPr/>
        </p:nvSpPr>
        <p:spPr>
          <a:xfrm>
            <a:off x="2523744" y="4535424"/>
            <a:ext cx="457200" cy="347472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2523744" y="4535424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0.04</a:t>
            </a:r>
            <a:endParaRPr lang="en-US" sz="750" dirty="0"/>
          </a:p>
        </p:txBody>
      </p:sp>
      <p:sp>
        <p:nvSpPr>
          <p:cNvPr id="121" name="Shape 119"/>
          <p:cNvSpPr/>
          <p:nvPr/>
        </p:nvSpPr>
        <p:spPr>
          <a:xfrm>
            <a:off x="3008376" y="4535424"/>
            <a:ext cx="457200" cy="347472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3008376" y="4535424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-0.01</a:t>
            </a:r>
            <a:endParaRPr lang="en-US" sz="750" dirty="0"/>
          </a:p>
        </p:txBody>
      </p:sp>
      <p:sp>
        <p:nvSpPr>
          <p:cNvPr id="123" name="Shape 121"/>
          <p:cNvSpPr/>
          <p:nvPr/>
        </p:nvSpPr>
        <p:spPr>
          <a:xfrm>
            <a:off x="3493008" y="4535424"/>
            <a:ext cx="457200" cy="347472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3493008" y="4535424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0.08</a:t>
            </a:r>
            <a:endParaRPr lang="en-US" sz="750" dirty="0"/>
          </a:p>
        </p:txBody>
      </p:sp>
      <p:sp>
        <p:nvSpPr>
          <p:cNvPr id="125" name="Shape 123"/>
          <p:cNvSpPr/>
          <p:nvPr/>
        </p:nvSpPr>
        <p:spPr>
          <a:xfrm>
            <a:off x="3977640" y="4535424"/>
            <a:ext cx="45720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3977640" y="4535424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750" dirty="0"/>
          </a:p>
        </p:txBody>
      </p:sp>
      <p:sp>
        <p:nvSpPr>
          <p:cNvPr id="127" name="Shape 125"/>
          <p:cNvSpPr/>
          <p:nvPr/>
        </p:nvSpPr>
        <p:spPr>
          <a:xfrm>
            <a:off x="4754880" y="1801368"/>
            <a:ext cx="402336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4754880" y="1719072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PARES RELEVANTES</a:t>
            </a:r>
            <a:endParaRPr lang="en-US" sz="750" dirty="0"/>
          </a:p>
        </p:txBody>
      </p:sp>
      <p:sp>
        <p:nvSpPr>
          <p:cNvPr id="129" name="Shape 127"/>
          <p:cNvSpPr/>
          <p:nvPr/>
        </p:nvSpPr>
        <p:spPr>
          <a:xfrm>
            <a:off x="4754880" y="1984248"/>
            <a:ext cx="4023360" cy="0"/>
          </a:xfrm>
          <a:prstGeom prst="line">
            <a:avLst/>
          </a:prstGeom>
          <a:noFill/>
          <a:ln w="9525">
            <a:solidFill>
              <a:srgbClr val="0B2545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4754880" y="2048256"/>
            <a:ext cx="4023360" cy="0"/>
          </a:xfrm>
          <a:prstGeom prst="line">
            <a:avLst/>
          </a:prstGeom>
          <a:noFill/>
          <a:ln w="9525">
            <a:solidFill>
              <a:srgbClr val="0B2545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4754880" y="2103120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duracion_meses  ↔  monto_credito</a:t>
            </a:r>
            <a:endParaRPr lang="en-US" sz="850" dirty="0"/>
          </a:p>
        </p:txBody>
      </p:sp>
      <p:sp>
        <p:nvSpPr>
          <p:cNvPr id="132" name="Text 130"/>
          <p:cNvSpPr/>
          <p:nvPr/>
        </p:nvSpPr>
        <p:spPr>
          <a:xfrm>
            <a:off x="4754880" y="2340864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99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 = 0.625</a:t>
            </a:r>
            <a:endParaRPr lang="en-US" sz="1600" dirty="0"/>
          </a:p>
        </p:txBody>
      </p:sp>
      <p:sp>
        <p:nvSpPr>
          <p:cNvPr id="133" name="Text 131"/>
          <p:cNvSpPr/>
          <p:nvPr/>
        </p:nvSpPr>
        <p:spPr>
          <a:xfrm>
            <a:off x="5989320" y="2359152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Créditos grandes tienen plazos más largos. Esperado. No justifica descartar ninguna.</a:t>
            </a:r>
            <a:endParaRPr lang="en-US" sz="850" dirty="0"/>
          </a:p>
        </p:txBody>
      </p:sp>
      <p:sp>
        <p:nvSpPr>
          <p:cNvPr id="134" name="Shape 132"/>
          <p:cNvSpPr/>
          <p:nvPr/>
        </p:nvSpPr>
        <p:spPr>
          <a:xfrm>
            <a:off x="4754880" y="2889504"/>
            <a:ext cx="4023360" cy="0"/>
          </a:xfrm>
          <a:prstGeom prst="line">
            <a:avLst/>
          </a:prstGeom>
          <a:noFill/>
          <a:ln w="5080">
            <a:solidFill>
              <a:srgbClr val="D1D5DB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4754880" y="2944368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monto_credito  ↔  tasa_cuota</a:t>
            </a:r>
            <a:endParaRPr lang="en-US" sz="850" dirty="0"/>
          </a:p>
        </p:txBody>
      </p:sp>
      <p:sp>
        <p:nvSpPr>
          <p:cNvPr id="136" name="Text 134"/>
          <p:cNvSpPr/>
          <p:nvPr/>
        </p:nvSpPr>
        <p:spPr>
          <a:xfrm>
            <a:off x="4754880" y="3182112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 = -0.271</a:t>
            </a:r>
            <a:endParaRPr lang="en-US" sz="1600" dirty="0"/>
          </a:p>
        </p:txBody>
      </p:sp>
      <p:sp>
        <p:nvSpPr>
          <p:cNvPr id="137" name="Text 135"/>
          <p:cNvSpPr/>
          <p:nvPr/>
        </p:nvSpPr>
        <p:spPr>
          <a:xfrm>
            <a:off x="5989320" y="3200400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Correlación inversa leve. Sin impacto en selección.</a:t>
            </a:r>
            <a:endParaRPr lang="en-US" sz="850" dirty="0"/>
          </a:p>
        </p:txBody>
      </p:sp>
      <p:sp>
        <p:nvSpPr>
          <p:cNvPr id="138" name="Shape 136"/>
          <p:cNvSpPr/>
          <p:nvPr/>
        </p:nvSpPr>
        <p:spPr>
          <a:xfrm>
            <a:off x="4754880" y="3730752"/>
            <a:ext cx="4023360" cy="0"/>
          </a:xfrm>
          <a:prstGeom prst="line">
            <a:avLst/>
          </a:prstGeom>
          <a:noFill/>
          <a:ln w="5080">
            <a:solidFill>
              <a:srgbClr val="D1D5DB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4754880" y="3785616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anios_residencia  ↔  edad</a:t>
            </a:r>
            <a:endParaRPr lang="en-US" sz="850" dirty="0"/>
          </a:p>
        </p:txBody>
      </p:sp>
      <p:sp>
        <p:nvSpPr>
          <p:cNvPr id="140" name="Text 138"/>
          <p:cNvSpPr/>
          <p:nvPr/>
        </p:nvSpPr>
        <p:spPr>
          <a:xfrm>
            <a:off x="4754880" y="402336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 = 0.266</a:t>
            </a:r>
            <a:endParaRPr lang="en-US" sz="1600" dirty="0"/>
          </a:p>
        </p:txBody>
      </p:sp>
      <p:sp>
        <p:nvSpPr>
          <p:cNvPr id="141" name="Text 139"/>
          <p:cNvSpPr/>
          <p:nvPr/>
        </p:nvSpPr>
        <p:spPr>
          <a:xfrm>
            <a:off x="5989320" y="4041648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 mayores llevan más años en su residencia actual.</a:t>
            </a:r>
            <a:endParaRPr lang="en-US" sz="850" dirty="0"/>
          </a:p>
        </p:txBody>
      </p:sp>
      <p:sp>
        <p:nvSpPr>
          <p:cNvPr id="142" name="Text 140"/>
          <p:cNvSpPr/>
          <p:nvPr/>
        </p:nvSpPr>
        <p:spPr>
          <a:xfrm>
            <a:off x="4754880" y="4718304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Conclusión: ningún par supera |r| &gt; 0.70. Sin multicolinealidad severa.</a:t>
            </a:r>
            <a:endParaRPr lang="en-US" sz="800" dirty="0"/>
          </a:p>
        </p:txBody>
      </p:sp>
      <p:sp>
        <p:nvSpPr>
          <p:cNvPr id="143" name="Text 141"/>
          <p:cNvSpPr/>
          <p:nvPr/>
        </p:nvSpPr>
        <p:spPr>
          <a:xfrm>
            <a:off x="8321040" y="48920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9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1945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SELECCIÓN DE VARIABLES  ·  INFORMATION VALUE (WOE / IV)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43891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IV: 14 seleccionadas · cuenta_corriente excluida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1170432"/>
            <a:ext cx="82296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43584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502920" y="142646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of Evidence + Information Value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64408" y="1243584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264408" y="142646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Cuantificar poder predictivo individual de cada variable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025896" y="1243584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6025896" y="142646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IV_MIN = 0.02  ·  IV_MAX = 0.60 (sospecha de leakage)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02920" y="1737360"/>
            <a:ext cx="82296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1801368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IV  (0.02 ≤ IV ≤ 0.60  seleccionadas)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502920" y="1984248"/>
            <a:ext cx="4206240" cy="0"/>
          </a:xfrm>
          <a:prstGeom prst="line">
            <a:avLst/>
          </a:prstGeom>
          <a:noFill/>
          <a:ln w="9525">
            <a:solidFill>
              <a:srgbClr val="0B254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1984248"/>
            <a:ext cx="4206240" cy="0"/>
          </a:xfrm>
          <a:prstGeom prst="line">
            <a:avLst/>
          </a:prstGeom>
          <a:noFill/>
          <a:ln w="9525">
            <a:solidFill>
              <a:srgbClr val="0B254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029968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9240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cuenta_corriente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606040" y="2066544"/>
            <a:ext cx="1291263" cy="118872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41648" y="2029968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9240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0.659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02920" y="2029968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" dirty="0">
                <a:solidFill>
                  <a:srgbClr val="F9F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EXCLUIDA</a:t>
            </a:r>
            <a:endParaRPr lang="en-US" sz="10" dirty="0"/>
          </a:p>
        </p:txBody>
      </p:sp>
      <p:sp>
        <p:nvSpPr>
          <p:cNvPr id="20" name="Text 18"/>
          <p:cNvSpPr/>
          <p:nvPr/>
        </p:nvSpPr>
        <p:spPr>
          <a:xfrm>
            <a:off x="4572000" y="2029968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EXCLUIDA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02920" y="2231136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historial_credito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606040" y="2267712"/>
            <a:ext cx="570194" cy="11887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041648" y="2231136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0.291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02920" y="2231136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" dirty="0">
                <a:solidFill>
                  <a:srgbClr val="F9F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" dirty="0"/>
          </a:p>
        </p:txBody>
      </p:sp>
      <p:sp>
        <p:nvSpPr>
          <p:cNvPr id="25" name="Text 23"/>
          <p:cNvSpPr/>
          <p:nvPr/>
        </p:nvSpPr>
        <p:spPr>
          <a:xfrm>
            <a:off x="4572000" y="223113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02920" y="2432304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duracion_meses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606040" y="2468880"/>
            <a:ext cx="417358" cy="11887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041648" y="2432304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0.213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02920" y="2432304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" dirty="0">
                <a:solidFill>
                  <a:srgbClr val="F9F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" dirty="0"/>
          </a:p>
        </p:txBody>
      </p:sp>
      <p:sp>
        <p:nvSpPr>
          <p:cNvPr id="30" name="Text 28"/>
          <p:cNvSpPr/>
          <p:nvPr/>
        </p:nvSpPr>
        <p:spPr>
          <a:xfrm>
            <a:off x="4572000" y="2432304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02920" y="2633472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ahorros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606040" y="2670048"/>
            <a:ext cx="368373" cy="11887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041648" y="2633472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0.188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02920" y="2633472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" dirty="0">
                <a:solidFill>
                  <a:srgbClr val="F9F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" dirty="0"/>
          </a:p>
        </p:txBody>
      </p:sp>
      <p:sp>
        <p:nvSpPr>
          <p:cNvPr id="35" name="Text 33"/>
          <p:cNvSpPr/>
          <p:nvPr/>
        </p:nvSpPr>
        <p:spPr>
          <a:xfrm>
            <a:off x="4572000" y="263347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02920" y="2834640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proposito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2606040" y="2871216"/>
            <a:ext cx="297833" cy="11887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041648" y="2834640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0.152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02920" y="2834640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" dirty="0">
                <a:solidFill>
                  <a:srgbClr val="F9F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" dirty="0"/>
          </a:p>
        </p:txBody>
      </p:sp>
      <p:sp>
        <p:nvSpPr>
          <p:cNvPr id="40" name="Text 38"/>
          <p:cNvSpPr/>
          <p:nvPr/>
        </p:nvSpPr>
        <p:spPr>
          <a:xfrm>
            <a:off x="4572000" y="2834640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02920" y="3035808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propiedad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2606040" y="3072384"/>
            <a:ext cx="219456" cy="11887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041648" y="3035808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0.112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02920" y="3035808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" dirty="0">
                <a:solidFill>
                  <a:srgbClr val="F9F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" dirty="0"/>
          </a:p>
        </p:txBody>
      </p:sp>
      <p:sp>
        <p:nvSpPr>
          <p:cNvPr id="45" name="Text 43"/>
          <p:cNvSpPr/>
          <p:nvPr/>
        </p:nvSpPr>
        <p:spPr>
          <a:xfrm>
            <a:off x="4572000" y="3035808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502920" y="3236976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monto_credito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2606040" y="3273552"/>
            <a:ext cx="180267" cy="11887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041648" y="3236976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0.092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502920" y="3236976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" dirty="0">
                <a:solidFill>
                  <a:srgbClr val="F9F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" dirty="0"/>
          </a:p>
        </p:txBody>
      </p:sp>
      <p:sp>
        <p:nvSpPr>
          <p:cNvPr id="50" name="Text 48"/>
          <p:cNvSpPr/>
          <p:nvPr/>
        </p:nvSpPr>
        <p:spPr>
          <a:xfrm>
            <a:off x="4572000" y="323697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502920" y="3438144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empleo_desde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2606040" y="3474720"/>
            <a:ext cx="168511" cy="11887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041648" y="3438144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0.086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502920" y="3438144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" dirty="0">
                <a:solidFill>
                  <a:srgbClr val="F9F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" dirty="0"/>
          </a:p>
        </p:txBody>
      </p:sp>
      <p:sp>
        <p:nvSpPr>
          <p:cNvPr id="55" name="Text 53"/>
          <p:cNvSpPr/>
          <p:nvPr/>
        </p:nvSpPr>
        <p:spPr>
          <a:xfrm>
            <a:off x="4572000" y="3438144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502920" y="3639312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…7 más (IV 0.025–0.084)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502920" y="3639312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" dirty="0">
                <a:solidFill>
                  <a:srgbClr val="F9F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" dirty="0"/>
          </a:p>
        </p:txBody>
      </p:sp>
      <p:sp>
        <p:nvSpPr>
          <p:cNvPr id="58" name="Text 56"/>
          <p:cNvSpPr/>
          <p:nvPr/>
        </p:nvSpPr>
        <p:spPr>
          <a:xfrm>
            <a:off x="4572000" y="363931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502920" y="3840480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tipo_trabajo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2606040" y="3877056"/>
            <a:ext cx="17635" cy="11887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041648" y="3840480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0.009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502920" y="3840480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" dirty="0">
                <a:solidFill>
                  <a:srgbClr val="F9F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" dirty="0"/>
          </a:p>
        </p:txBody>
      </p:sp>
      <p:sp>
        <p:nvSpPr>
          <p:cNvPr id="63" name="Text 61"/>
          <p:cNvSpPr/>
          <p:nvPr/>
        </p:nvSpPr>
        <p:spPr>
          <a:xfrm>
            <a:off x="4572000" y="3840480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502920" y="4041648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telefono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2606040" y="4078224"/>
            <a:ext cx="11757" cy="11887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041648" y="4041648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0.006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502920" y="4041648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" dirty="0">
                <a:solidFill>
                  <a:srgbClr val="F9F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" dirty="0"/>
          </a:p>
        </p:txBody>
      </p:sp>
      <p:sp>
        <p:nvSpPr>
          <p:cNvPr id="68" name="Text 66"/>
          <p:cNvSpPr/>
          <p:nvPr/>
        </p:nvSpPr>
        <p:spPr>
          <a:xfrm>
            <a:off x="4572000" y="4041648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502920" y="4242816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num_creditos_banco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2606040" y="4279392"/>
            <a:ext cx="5878" cy="11887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041648" y="4242816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0.003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502920" y="4242816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" dirty="0">
                <a:solidFill>
                  <a:srgbClr val="F9F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" dirty="0"/>
          </a:p>
        </p:txBody>
      </p:sp>
      <p:sp>
        <p:nvSpPr>
          <p:cNvPr id="73" name="Text 71"/>
          <p:cNvSpPr/>
          <p:nvPr/>
        </p:nvSpPr>
        <p:spPr>
          <a:xfrm>
            <a:off x="4572000" y="424281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502920" y="4443984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anios_residencia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2606040" y="4480560"/>
            <a:ext cx="392" cy="11887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041648" y="4443984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0.000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502920" y="4443984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" dirty="0">
                <a:solidFill>
                  <a:srgbClr val="F9F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" dirty="0"/>
          </a:p>
        </p:txBody>
      </p:sp>
      <p:sp>
        <p:nvSpPr>
          <p:cNvPr id="78" name="Text 76"/>
          <p:cNvSpPr/>
          <p:nvPr/>
        </p:nvSpPr>
        <p:spPr>
          <a:xfrm>
            <a:off x="4572000" y="4443984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502920" y="4645152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num_dependientes</a:t>
            </a:r>
            <a:endParaRPr lang="en-US" sz="850" dirty="0"/>
          </a:p>
        </p:txBody>
      </p:sp>
      <p:sp>
        <p:nvSpPr>
          <p:cNvPr id="80" name="Shape 78"/>
          <p:cNvSpPr/>
          <p:nvPr/>
        </p:nvSpPr>
        <p:spPr>
          <a:xfrm>
            <a:off x="2606040" y="4681728"/>
            <a:ext cx="0" cy="11887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041648" y="4645152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0.000</a:t>
            </a:r>
            <a:endParaRPr lang="en-US" sz="800" dirty="0"/>
          </a:p>
        </p:txBody>
      </p:sp>
      <p:sp>
        <p:nvSpPr>
          <p:cNvPr id="82" name="Text 80"/>
          <p:cNvSpPr/>
          <p:nvPr/>
        </p:nvSpPr>
        <p:spPr>
          <a:xfrm>
            <a:off x="502920" y="4645152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" dirty="0">
                <a:solidFill>
                  <a:srgbClr val="F9F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" dirty="0"/>
          </a:p>
        </p:txBody>
      </p:sp>
      <p:sp>
        <p:nvSpPr>
          <p:cNvPr id="83" name="Text 81"/>
          <p:cNvSpPr/>
          <p:nvPr/>
        </p:nvSpPr>
        <p:spPr>
          <a:xfrm>
            <a:off x="4572000" y="464515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5349240" y="1801368"/>
            <a:ext cx="34290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5349240" y="1719072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spc="200" kern="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CUENTA_CORRIENTE  —  POR QUÉ SE EXCLUYE</a:t>
            </a:r>
            <a:endParaRPr lang="en-US" sz="750" dirty="0"/>
          </a:p>
        </p:txBody>
      </p:sp>
      <p:sp>
        <p:nvSpPr>
          <p:cNvPr id="86" name="Shape 84"/>
          <p:cNvSpPr/>
          <p:nvPr/>
        </p:nvSpPr>
        <p:spPr>
          <a:xfrm>
            <a:off x="5349240" y="1984248"/>
            <a:ext cx="3429000" cy="0"/>
          </a:xfrm>
          <a:prstGeom prst="line">
            <a:avLst/>
          </a:prstGeom>
          <a:noFill/>
          <a:ln w="9525">
            <a:solidFill>
              <a:srgbClr val="92400E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5349240" y="2048256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 = 0.659 supera el umbral máximo de 0.60 establecido para este trabajo.</a:t>
            </a:r>
            <a:endParaRPr lang="en-US" sz="950" dirty="0"/>
          </a:p>
        </p:txBody>
      </p:sp>
      <p:sp>
        <p:nvSpPr>
          <p:cNvPr id="88" name="Text 86"/>
          <p:cNvSpPr/>
          <p:nvPr/>
        </p:nvSpPr>
        <p:spPr>
          <a:xfrm>
            <a:off x="5349240" y="2423160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IV tan alto en una muestra de 1.000 registros puede indicar: concentración excesiva de información, sesgo de selección (el banco pudo haber basado sus aprobaciones históricas en ese saldo, generando endogeneidad), o poder predictivo artificialmente alto no generalizable.</a:t>
            </a:r>
            <a:endParaRPr lang="en-US" sz="900" dirty="0"/>
          </a:p>
        </p:txBody>
      </p:sp>
      <p:sp>
        <p:nvSpPr>
          <p:cNvPr id="89" name="Text 87"/>
          <p:cNvSpPr/>
          <p:nvPr/>
        </p:nvSpPr>
        <p:spPr>
          <a:xfrm>
            <a:off x="5349240" y="3291840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RATE POR CATEGORÍA</a:t>
            </a:r>
            <a:endParaRPr lang="en-US" sz="750" dirty="0"/>
          </a:p>
        </p:txBody>
      </p:sp>
      <p:sp>
        <p:nvSpPr>
          <p:cNvPr id="90" name="Shape 88"/>
          <p:cNvSpPr/>
          <p:nvPr/>
        </p:nvSpPr>
        <p:spPr>
          <a:xfrm>
            <a:off x="5349240" y="3474720"/>
            <a:ext cx="3429000" cy="0"/>
          </a:xfrm>
          <a:prstGeom prst="line">
            <a:avLst/>
          </a:prstGeom>
          <a:noFill/>
          <a:ln w="5080">
            <a:solidFill>
              <a:srgbClr val="D1D5DB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5349240" y="352958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A11 (saldo &lt; 0 DM)</a:t>
            </a:r>
            <a:endParaRPr lang="en-US" sz="850" dirty="0"/>
          </a:p>
        </p:txBody>
      </p:sp>
      <p:sp>
        <p:nvSpPr>
          <p:cNvPr id="92" name="Text 90"/>
          <p:cNvSpPr/>
          <p:nvPr/>
        </p:nvSpPr>
        <p:spPr>
          <a:xfrm>
            <a:off x="7223760" y="3529584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9240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49.3%</a:t>
            </a:r>
            <a:endParaRPr lang="en-US" sz="950" dirty="0"/>
          </a:p>
        </p:txBody>
      </p:sp>
      <p:sp>
        <p:nvSpPr>
          <p:cNvPr id="93" name="Text 91"/>
          <p:cNvSpPr/>
          <p:nvPr/>
        </p:nvSpPr>
        <p:spPr>
          <a:xfrm>
            <a:off x="7955280" y="3529584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n=274</a:t>
            </a:r>
            <a:endParaRPr lang="en-US" sz="800" dirty="0"/>
          </a:p>
        </p:txBody>
      </p:sp>
      <p:sp>
        <p:nvSpPr>
          <p:cNvPr id="94" name="Text 92"/>
          <p:cNvSpPr/>
          <p:nvPr/>
        </p:nvSpPr>
        <p:spPr>
          <a:xfrm>
            <a:off x="5349240" y="380390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A12 (0–200 DM)</a:t>
            </a:r>
            <a:endParaRPr lang="en-US" sz="850" dirty="0"/>
          </a:p>
        </p:txBody>
      </p:sp>
      <p:sp>
        <p:nvSpPr>
          <p:cNvPr id="95" name="Text 93"/>
          <p:cNvSpPr/>
          <p:nvPr/>
        </p:nvSpPr>
        <p:spPr>
          <a:xfrm>
            <a:off x="7223760" y="3803904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9240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39.0%</a:t>
            </a:r>
            <a:endParaRPr lang="en-US" sz="950" dirty="0"/>
          </a:p>
        </p:txBody>
      </p:sp>
      <p:sp>
        <p:nvSpPr>
          <p:cNvPr id="96" name="Text 94"/>
          <p:cNvSpPr/>
          <p:nvPr/>
        </p:nvSpPr>
        <p:spPr>
          <a:xfrm>
            <a:off x="7955280" y="3803904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n=269</a:t>
            </a:r>
            <a:endParaRPr lang="en-US" sz="800" dirty="0"/>
          </a:p>
        </p:txBody>
      </p:sp>
      <p:sp>
        <p:nvSpPr>
          <p:cNvPr id="97" name="Text 95"/>
          <p:cNvSpPr/>
          <p:nvPr/>
        </p:nvSpPr>
        <p:spPr>
          <a:xfrm>
            <a:off x="5349240" y="407822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A13 (≥ 200 DM)</a:t>
            </a:r>
            <a:endParaRPr lang="en-US" sz="850" dirty="0"/>
          </a:p>
        </p:txBody>
      </p:sp>
      <p:sp>
        <p:nvSpPr>
          <p:cNvPr id="98" name="Text 96"/>
          <p:cNvSpPr/>
          <p:nvPr/>
        </p:nvSpPr>
        <p:spPr>
          <a:xfrm>
            <a:off x="7223760" y="4078224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9240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22.2%</a:t>
            </a:r>
            <a:endParaRPr lang="en-US" sz="950" dirty="0"/>
          </a:p>
        </p:txBody>
      </p:sp>
      <p:sp>
        <p:nvSpPr>
          <p:cNvPr id="99" name="Text 97"/>
          <p:cNvSpPr/>
          <p:nvPr/>
        </p:nvSpPr>
        <p:spPr>
          <a:xfrm>
            <a:off x="7955280" y="4078224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n=63</a:t>
            </a:r>
            <a:endParaRPr lang="en-US" sz="800" dirty="0"/>
          </a:p>
        </p:txBody>
      </p:sp>
      <p:sp>
        <p:nvSpPr>
          <p:cNvPr id="100" name="Text 98"/>
          <p:cNvSpPr/>
          <p:nvPr/>
        </p:nvSpPr>
        <p:spPr>
          <a:xfrm>
            <a:off x="5349240" y="435254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A14 (sin cuenta)</a:t>
            </a:r>
            <a:endParaRPr lang="en-US" sz="850" dirty="0"/>
          </a:p>
        </p:txBody>
      </p:sp>
      <p:sp>
        <p:nvSpPr>
          <p:cNvPr id="101" name="Text 99"/>
          <p:cNvSpPr/>
          <p:nvPr/>
        </p:nvSpPr>
        <p:spPr>
          <a:xfrm>
            <a:off x="7223760" y="4352544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9240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11.7%</a:t>
            </a:r>
            <a:endParaRPr lang="en-US" sz="950" dirty="0"/>
          </a:p>
        </p:txBody>
      </p:sp>
      <p:sp>
        <p:nvSpPr>
          <p:cNvPr id="102" name="Text 100"/>
          <p:cNvSpPr/>
          <p:nvPr/>
        </p:nvSpPr>
        <p:spPr>
          <a:xfrm>
            <a:off x="7955280" y="4352544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n=394</a:t>
            </a:r>
            <a:endParaRPr lang="en-US" sz="800" dirty="0"/>
          </a:p>
        </p:txBody>
      </p:sp>
      <p:sp>
        <p:nvSpPr>
          <p:cNvPr id="103" name="Text 101"/>
          <p:cNvSpPr/>
          <p:nvPr/>
        </p:nvSpPr>
        <p:spPr>
          <a:xfrm>
            <a:off x="5349240" y="466344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= 37.6 pts. La mayor discriminante bivariada — excluida por precaución.</a:t>
            </a:r>
            <a:endParaRPr lang="en-US" sz="850" dirty="0"/>
          </a:p>
        </p:txBody>
      </p:sp>
      <p:sp>
        <p:nvSpPr>
          <p:cNvPr id="104" name="Text 102"/>
          <p:cNvSpPr/>
          <p:nvPr/>
        </p:nvSpPr>
        <p:spPr>
          <a:xfrm>
            <a:off x="8321040" y="48920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1945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MODELO  ·  PIPELINE &amp; CONFIGURACIÓN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43891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Logística L1: AUC = 0.71 · 23 / 38 coefs no nulos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1170432"/>
            <a:ext cx="82296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43584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 PREPROCESAMIENTO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02920" y="1426464"/>
            <a:ext cx="4023360" cy="0"/>
          </a:xfrm>
          <a:prstGeom prst="line">
            <a:avLst/>
          </a:prstGeom>
          <a:noFill/>
          <a:ln w="9525">
            <a:solidFill>
              <a:srgbClr val="0B25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99616"/>
            <a:ext cx="320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86968" y="1499616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Selección IV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86968" y="1755648"/>
            <a:ext cx="3611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variables (IV 0.02–0.60). 6 descartadas: 5 no predictivas + cuenta_corriente (IV sospechoso).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02920" y="2194560"/>
            <a:ext cx="4023360" cy="0"/>
          </a:xfrm>
          <a:prstGeom prst="line">
            <a:avLst/>
          </a:prstGeom>
          <a:noFill/>
          <a:ln w="5080">
            <a:solidFill>
              <a:srgbClr val="D1D5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267712"/>
            <a:ext cx="320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86968" y="2267712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60 / 20 / 20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86968" y="2523744"/>
            <a:ext cx="3611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Estratificado (stratify=y): bad rate = 30% exacto en train, valid y test. 120 malos distribuidos uniformemente.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02920" y="2962656"/>
            <a:ext cx="4023360" cy="0"/>
          </a:xfrm>
          <a:prstGeom prst="line">
            <a:avLst/>
          </a:prstGeom>
          <a:noFill/>
          <a:ln w="5080">
            <a:solidFill>
              <a:srgbClr val="D1D5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035808"/>
            <a:ext cx="320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86968" y="303580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→ 38 features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86968" y="3291840"/>
            <a:ext cx="3611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drop_first=True para evitar multicolinealidad perfecta entre dummies de la misma variable.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02920" y="3730752"/>
            <a:ext cx="4023360" cy="0"/>
          </a:xfrm>
          <a:prstGeom prst="line">
            <a:avLst/>
          </a:prstGeom>
          <a:noFill/>
          <a:ln w="5080">
            <a:solidFill>
              <a:srgbClr val="D1D5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803904"/>
            <a:ext cx="320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86968" y="3803904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86968" y="4059936"/>
            <a:ext cx="3611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exclusivamente sobre train. Valid y test se transforman con los parámetros del train. Evita data leakage.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754880" y="1243584"/>
            <a:ext cx="402336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1161288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HIPERPARÁMETROS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4754880" y="1426464"/>
            <a:ext cx="4023360" cy="0"/>
          </a:xfrm>
          <a:prstGeom prst="line">
            <a:avLst/>
          </a:prstGeom>
          <a:noFill/>
          <a:ln w="9525">
            <a:solidFill>
              <a:srgbClr val="0B254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149961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penalty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199632" y="1499616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l1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269480" y="1499616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Lasso — lleva coeficientes irrelevantes exactamente a cero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754880" y="1828800"/>
            <a:ext cx="4023360" cy="0"/>
          </a:xfrm>
          <a:prstGeom prst="line">
            <a:avLst/>
          </a:prstGeom>
          <a:noFill/>
          <a:ln w="5080">
            <a:solidFill>
              <a:srgbClr val="D1D5D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1883664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solver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199632" y="1883664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liblinear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7269480" y="1883664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Único solver compatible con L1 en sklearn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754880" y="2212848"/>
            <a:ext cx="4023360" cy="0"/>
          </a:xfrm>
          <a:prstGeom prst="line">
            <a:avLst/>
          </a:prstGeom>
          <a:noFill/>
          <a:ln w="5080">
            <a:solidFill>
              <a:srgbClr val="D1D5D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0" y="226771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class_weight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199632" y="2267712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balanced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7269480" y="2267712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 1/freq a cada clase · compensa desbalance 70/30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754880" y="2596896"/>
            <a:ext cx="4023360" cy="0"/>
          </a:xfrm>
          <a:prstGeom prst="line">
            <a:avLst/>
          </a:prstGeom>
          <a:noFill/>
          <a:ln w="5080">
            <a:solidFill>
              <a:srgbClr val="D1D5D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54880" y="265176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199632" y="265176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7269480" y="2651760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Regularización fuerte · necesaria con muestra chica (600 train)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754880" y="2980944"/>
            <a:ext cx="4023360" cy="0"/>
          </a:xfrm>
          <a:prstGeom prst="line">
            <a:avLst/>
          </a:prstGeom>
          <a:noFill/>
          <a:ln w="5080">
            <a:solidFill>
              <a:srgbClr val="D1D5D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54880" y="303580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coefs no nulos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199632" y="3035808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 / 38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7269480" y="3035808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eliminó 39.5% de features automáticamente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754880" y="3493008"/>
            <a:ext cx="4023360" cy="0"/>
          </a:xfrm>
          <a:prstGeom prst="line">
            <a:avLst/>
          </a:prstGeom>
          <a:noFill/>
          <a:ln w="9525">
            <a:solidFill>
              <a:srgbClr val="0B254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54880" y="3566160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0.7102</a:t>
            </a:r>
            <a:endParaRPr lang="en-US" sz="2600" dirty="0"/>
          </a:p>
        </p:txBody>
      </p:sp>
      <p:sp>
        <p:nvSpPr>
          <p:cNvPr id="47" name="Text 45"/>
          <p:cNvSpPr/>
          <p:nvPr/>
        </p:nvSpPr>
        <p:spPr>
          <a:xfrm>
            <a:off x="4754880" y="404164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4754880" y="422452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Discriminación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6108192" y="3566160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0.5443</a:t>
            </a:r>
            <a:endParaRPr lang="en-US" sz="2600" dirty="0"/>
          </a:p>
        </p:txBody>
      </p:sp>
      <p:sp>
        <p:nvSpPr>
          <p:cNvPr id="50" name="Text 48"/>
          <p:cNvSpPr/>
          <p:nvPr/>
        </p:nvSpPr>
        <p:spPr>
          <a:xfrm>
            <a:off x="6108192" y="404164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PR-AUC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6108192" y="422452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Precisión-Recall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7461504" y="3566160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0.625</a:t>
            </a:r>
            <a:endParaRPr lang="en-US" sz="2600" dirty="0"/>
          </a:p>
        </p:txBody>
      </p:sp>
      <p:sp>
        <p:nvSpPr>
          <p:cNvPr id="53" name="Text 51"/>
          <p:cNvSpPr/>
          <p:nvPr/>
        </p:nvSpPr>
        <p:spPr>
          <a:xfrm>
            <a:off x="7461504" y="404164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7461504" y="422452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 = 0.50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4754880" y="4480560"/>
            <a:ext cx="402336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754880" y="4517136"/>
            <a:ext cx="4023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Regresión Logística: interpretabilidad (Odds Ratios) + auditable por reguladores + permite construir scorecard. Modelos no lineales (XGBoost, RF) mejorarían el AUC pero perderían estas propiedades.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8321040" y="48920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9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1945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RESULTADOS  ·  THRESHOLD = 0.50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43891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Threshold 0.50: 22 malos no detectados · costo 163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1170432"/>
            <a:ext cx="82296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43584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DE CONFUSIÓN  —  TEST  n = 200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02920" y="1426464"/>
            <a:ext cx="4023360" cy="0"/>
          </a:xfrm>
          <a:prstGeom prst="line">
            <a:avLst/>
          </a:prstGeom>
          <a:noFill/>
          <a:ln w="9525">
            <a:solidFill>
              <a:srgbClr val="0B25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25880" y="1499616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 BUENO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633472" y="1499616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 MALO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2920" y="1737360"/>
            <a:ext cx="777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BUENO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2920" y="2788920"/>
            <a:ext cx="777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MALO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325880" y="1737360"/>
            <a:ext cx="1234440" cy="960120"/>
          </a:xfrm>
          <a:prstGeom prst="rect">
            <a:avLst/>
          </a:prstGeom>
          <a:solidFill>
            <a:srgbClr val="F0FDF4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25880" y="1865376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 = 87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325880" y="2286000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correctamente aprobados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633472" y="1737360"/>
            <a:ext cx="1234440" cy="960120"/>
          </a:xfrm>
          <a:prstGeom prst="rect">
            <a:avLst/>
          </a:prstGeom>
          <a:solidFill>
            <a:srgbClr val="F9F8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33472" y="1865376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 = 53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2633472" y="2286000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buenos rechazados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325880" y="2788920"/>
            <a:ext cx="1234440" cy="960120"/>
          </a:xfrm>
          <a:prstGeom prst="rect">
            <a:avLst/>
          </a:prstGeom>
          <a:solidFill>
            <a:srgbClr val="FEF2F2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25880" y="2916936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 = 22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325880" y="3337560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malos aprobados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633472" y="2788920"/>
            <a:ext cx="1234440" cy="960120"/>
          </a:xfrm>
          <a:prstGeom prst="rect">
            <a:avLst/>
          </a:prstGeom>
          <a:solidFill>
            <a:srgbClr val="F0FDF4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33472" y="2916936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= 38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2633472" y="3337560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malos detectados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02920" y="387705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Costo:  5×22 + 1×53 = 163   (baseline = 300)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0" y="1243584"/>
            <a:ext cx="416052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0" y="1161288"/>
            <a:ext cx="4160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REPORT  (threshold = 0.50)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4572000" y="1426464"/>
            <a:ext cx="4160520" cy="0"/>
          </a:xfrm>
          <a:prstGeom prst="line">
            <a:avLst/>
          </a:prstGeom>
          <a:noFill/>
          <a:ln w="9525">
            <a:solidFill>
              <a:srgbClr val="0B254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0" y="148132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989320" y="148132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903720" y="148132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7772400" y="148132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572000" y="1728216"/>
            <a:ext cx="4160520" cy="384048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0" y="1755648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Bueno (0)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989320" y="175564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453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0.80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903720" y="175564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9240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0.62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7772400" y="175564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453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0.70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572000" y="2148840"/>
            <a:ext cx="4160520" cy="384048"/>
          </a:xfrm>
          <a:prstGeom prst="rect">
            <a:avLst/>
          </a:prstGeom>
          <a:solidFill>
            <a:srgbClr val="F9F8F6"/>
          </a:solidFill>
          <a:ln w="12700">
            <a:solidFill>
              <a:srgbClr val="F9F8F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0" y="2176272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Malo (1)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989320" y="217627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99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0.42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903720" y="217627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9240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0.63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7772400" y="217627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99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0.50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4572000" y="2596896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avg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989320" y="2596896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0.61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903720" y="2596896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0.63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7772400" y="2596896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0.60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4572000" y="3017520"/>
            <a:ext cx="4160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de malos = 63.3% — 22 de 60 malos no detectados.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4572000" y="3291840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accuracy de 62.5% es engañoso: threshold 0.50 ignora la asimetría del costo.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572000" y="3675888"/>
            <a:ext cx="416052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72000" y="3730752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AUC-ROC = 0.7102  ·  PR-AUC = 0.5443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4572000" y="4005072"/>
            <a:ext cx="4160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entre 0.70 y 0.80 es aceptable para datasets de 1.000 registros en credit scoring. El PR-AUC es más informativo dado el desbalance 70/30: mide la precisión sobre la clase minoritaria (malos pagadores).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8321040" y="48920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9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1945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COSTO ASIMÉTRICO  ·  OPTIMIZACIÓN DEL THRESHOLD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43891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Threshold 0.26: costo 300 → 137  (−54.3%)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1170432"/>
            <a:ext cx="82296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43584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COMPARATIVA DE ESCENARIOS  ·  Test n = 200  ·  Malos = 60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1426464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2468880" y="1426464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Thr.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310128" y="1426464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4114800" y="1426464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919472" y="1426464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 ★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5715000" y="1426464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6583680" y="1426464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7699248" y="1426464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Reducción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502920" y="1645920"/>
            <a:ext cx="8229600" cy="0"/>
          </a:xfrm>
          <a:prstGeom prst="line">
            <a:avLst/>
          </a:prstGeom>
          <a:noFill/>
          <a:ln w="9525">
            <a:solidFill>
              <a:srgbClr val="0B254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1719072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(aprobar todo)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468880" y="1719072"/>
            <a:ext cx="7863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10128" y="1719072"/>
            <a:ext cx="7680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140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114800" y="1719072"/>
            <a:ext cx="7498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919472" y="1719072"/>
            <a:ext cx="7498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99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715000" y="1719072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583680" y="1719072"/>
            <a:ext cx="1024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99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300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699248" y="1719072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02920" y="2249424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default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468880" y="2249424"/>
            <a:ext cx="7863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0.50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310128" y="2249424"/>
            <a:ext cx="7680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87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114800" y="2249424"/>
            <a:ext cx="7498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53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919472" y="2249424"/>
            <a:ext cx="7498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99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715000" y="2249424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38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583680" y="2249424"/>
            <a:ext cx="1024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163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699248" y="2249424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−45.7%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02920" y="2743200"/>
            <a:ext cx="8229600" cy="493776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02920" y="2743200"/>
            <a:ext cx="36576" cy="493776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4360" y="2779776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óptimo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468880" y="2779776"/>
            <a:ext cx="7863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0.26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310128" y="2779776"/>
            <a:ext cx="7680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114800" y="2779776"/>
            <a:ext cx="7498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240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112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919472" y="2779776"/>
            <a:ext cx="7498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453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715000" y="2779776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55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583680" y="2779776"/>
            <a:ext cx="1024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453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137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7699248" y="2779776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−54.3%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502920" y="3346704"/>
            <a:ext cx="82296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2920" y="3419856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EL THRESHOLD BAJA A 0.26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502920" y="3639312"/>
            <a:ext cx="36576" cy="107899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0936" y="3639312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Asimetría del costo 5:1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30936" y="3913632"/>
            <a:ext cx="257860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FN cuesta 5 vs. 1 por FP. El modelo acepta 112 FP para evitar 17 FN adicionales. Ahorro neto: 17×5 − 59×1 = 26 unidades.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3291840" y="3639312"/>
            <a:ext cx="36576" cy="107899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419856" y="3639312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Buscado en validación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3419856" y="3913632"/>
            <a:ext cx="257860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Optimizar el threshold en test = data leakage. Se busca en validación (200 casos) y se evalúa en test (200 casos distintos).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6080760" y="3639312"/>
            <a:ext cx="36576" cy="107899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208776" y="3639312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cae a 41%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208776" y="3913632"/>
            <a:ext cx="257860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thr=0.26, accuracy = 41%. Es un número engañoso: el objetivo es minimizar el costo asimétrico, no maximizar la proporción de aciertos.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8321040" y="48920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9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1945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INTERPRETABILIDAD  ·  ODDS RATIOS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43891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Odds Ratios: drivers del riesgo de mora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1170432"/>
            <a:ext cx="82296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435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qué: permite explicar al analista y al regulador qué factores aumentan o reducen el riesgo de mora. Condición indispensable para modelos bancarios.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02920" y="1554480"/>
            <a:ext cx="82296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62763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FEATURES POR MAGNITUD DE COEFICIENTE  ·  L1 eliminó 15 / 38 features automáticamente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02920" y="1810512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3063240" y="1810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Coef.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041648" y="1810512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4983480" y="1810512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Interpretación de negocio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502920" y="2029968"/>
            <a:ext cx="8229600" cy="0"/>
          </a:xfrm>
          <a:prstGeom prst="line">
            <a:avLst/>
          </a:prstGeom>
          <a:noFill/>
          <a:ln w="9525">
            <a:solidFill>
              <a:srgbClr val="0B254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2084832"/>
            <a:ext cx="8229600" cy="237744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103120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historial_credito_A34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063240" y="210312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453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-0.391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041648" y="2103120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453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0.677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983480" y="2103120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 crítica/otros bancos  →  −32.3% riesgo de mora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02920" y="2359152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99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duracion_meses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063240" y="235915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9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+0.365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041648" y="2359152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9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1.441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983480" y="2359152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mes adicional  ×1.44 el riesgo de mora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02920" y="2596896"/>
            <a:ext cx="8229600" cy="237744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2615184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otros_planes_cuota_A143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063240" y="261518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453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-0.302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041648" y="2615184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453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0.740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983480" y="2615184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otros planes de cuota  →  −26.0% riesgo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02920" y="2871216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ahorros_A65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063240" y="287121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453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-0.284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041648" y="2871216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453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0.753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983480" y="2871216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cuenta de ahorros (base)  →  −24.7% riesgo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02920" y="3108960"/>
            <a:ext cx="8229600" cy="237744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3127248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99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tasa_cuota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3063240" y="312724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9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+0.248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041648" y="3127248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9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1.281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983480" y="3127248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punto de tasa  →  +28.1% riesgo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502920" y="3383280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ahorros_A64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3063240" y="338328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453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-0.243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041648" y="3383280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453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0.784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983480" y="3383280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Ahorros ≥1.000 DM  →  −21.6% riesgo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502920" y="3621024"/>
            <a:ext cx="8229600" cy="237744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2920" y="3639312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estado_civil_sexo_A93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3063240" y="36393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453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-0.201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041648" y="3639312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453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0.818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983480" y="3639312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Hombre soltero  →  −18.2% riesgo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502920" y="3895344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proposito_A41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3063240" y="389534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453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-0.198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041648" y="3895344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453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0.821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983480" y="3895344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Propósito: auto usado  →  −17.9% riesgo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502920" y="4133088"/>
            <a:ext cx="8229600" cy="237744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02920" y="4151376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proposito_A43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3063240" y="415137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453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-0.175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041648" y="4151376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453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0.840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4983480" y="4151376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Propósito: TV/Radio  →  −16.0% riesgo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502920" y="4407408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99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empleo_desde_A72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3063240" y="440740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9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+0.129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4041648" y="4407408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9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1.137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4983480" y="4407408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Empleo &lt;1 año  →  +13.7% riesgo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502920" y="4681728"/>
            <a:ext cx="82296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02920" y="471830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&lt; 1 = factor protector  ·  OR &gt; 1 = factor de riesgo  ·  OR = 1 = sin efecto estadístico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8321040" y="48920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9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1945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SCORECARD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43891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Scorecard: corte 517 pts · 16.5% aprobado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1170432"/>
            <a:ext cx="82296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43584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PARÁMETROS  ·  Convención estándar de la industria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02920" y="1426464"/>
            <a:ext cx="4114800" cy="0"/>
          </a:xfrm>
          <a:prstGeom prst="line">
            <a:avLst/>
          </a:prstGeom>
          <a:noFill/>
          <a:ln w="9525">
            <a:solidFill>
              <a:srgbClr val="0B25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99616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PDO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993392" y="149961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154680" y="1499616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20 pts de caída duplica las chances de mora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02920" y="1810512"/>
            <a:ext cx="4114800" cy="0"/>
          </a:xfrm>
          <a:prstGeom prst="line">
            <a:avLst/>
          </a:prstGeom>
          <a:noFill/>
          <a:ln w="5080">
            <a:solidFill>
              <a:srgbClr val="D1D5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865376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referencia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993392" y="186537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600 pts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154680" y="1865376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donde odds = 50:1 (1 malo por 50 buenos)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02920" y="2176272"/>
            <a:ext cx="4114800" cy="0"/>
          </a:xfrm>
          <a:prstGeom prst="line">
            <a:avLst/>
          </a:prstGeom>
          <a:noFill/>
          <a:ln w="5080">
            <a:solidFill>
              <a:srgbClr val="D1D5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231136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Odds referencia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993392" y="223113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 : 1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02920" y="2542032"/>
            <a:ext cx="4114800" cy="0"/>
          </a:xfrm>
          <a:prstGeom prst="line">
            <a:avLst/>
          </a:prstGeom>
          <a:noFill/>
          <a:ln w="5080">
            <a:solidFill>
              <a:srgbClr val="D1D5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596896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993392" y="259689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28.8539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02920" y="2907792"/>
            <a:ext cx="4114800" cy="0"/>
          </a:xfrm>
          <a:prstGeom prst="line">
            <a:avLst/>
          </a:prstGeom>
          <a:noFill/>
          <a:ln w="5080">
            <a:solidFill>
              <a:srgbClr val="D1D5D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2962656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Offset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993392" y="296265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487.1229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02920" y="338328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 =  factor × ln(odds) + offset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" y="3712464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 score = menor riesgo  ·  rango en test: 423 – 572 pts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02920" y="4041648"/>
            <a:ext cx="41148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411480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 EN TEST  (n = 200)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502920" y="4315968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Buenos (0)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02920" y="4498848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453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497.1 pts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892808" y="4315968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Malos (1)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892808" y="4498848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9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476.6 pts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282696" y="4315968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282696" y="4498848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20.5 pts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892040" y="1243584"/>
            <a:ext cx="38862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92040" y="1161288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DE DECISIÓN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4892040" y="1426464"/>
            <a:ext cx="3886200" cy="0"/>
          </a:xfrm>
          <a:prstGeom prst="line">
            <a:avLst/>
          </a:prstGeom>
          <a:noFill/>
          <a:ln w="9525">
            <a:solidFill>
              <a:srgbClr val="0B254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892040" y="1828800"/>
            <a:ext cx="2314843" cy="475488"/>
          </a:xfrm>
          <a:prstGeom prst="rect">
            <a:avLst/>
          </a:prstGeom>
          <a:solidFill>
            <a:srgbClr val="FEF2F2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206883" y="1828800"/>
            <a:ext cx="1342757" cy="475488"/>
          </a:xfrm>
          <a:prstGeom prst="rect">
            <a:avLst/>
          </a:prstGeom>
          <a:solidFill>
            <a:srgbClr val="F0FDF4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206883" y="1664208"/>
            <a:ext cx="0" cy="822960"/>
          </a:xfrm>
          <a:prstGeom prst="line">
            <a:avLst/>
          </a:prstGeom>
          <a:noFill/>
          <a:ln w="19050">
            <a:solidFill>
              <a:srgbClr val="0B254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92040" y="23317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423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950851" y="1591056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517.3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8202168" y="23317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572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983480" y="1920240"/>
            <a:ext cx="21319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RECHAZADO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7252603" y="1920240"/>
            <a:ext cx="125131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APR.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4892040" y="254203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99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83.5%</a:t>
            </a:r>
            <a:endParaRPr lang="en-US" sz="3000" dirty="0"/>
          </a:p>
        </p:txBody>
      </p:sp>
      <p:sp>
        <p:nvSpPr>
          <p:cNvPr id="46" name="Text 44"/>
          <p:cNvSpPr/>
          <p:nvPr/>
        </p:nvSpPr>
        <p:spPr>
          <a:xfrm>
            <a:off x="4892040" y="298094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rechazados  (167 / 200)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6812280" y="254203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53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16.5%</a:t>
            </a:r>
            <a:endParaRPr lang="en-US" sz="3000" dirty="0"/>
          </a:p>
        </p:txBody>
      </p:sp>
      <p:sp>
        <p:nvSpPr>
          <p:cNvPr id="48" name="Text 46"/>
          <p:cNvSpPr/>
          <p:nvPr/>
        </p:nvSpPr>
        <p:spPr>
          <a:xfrm>
            <a:off x="6812280" y="2980944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aprobados  (33 / 200)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4892040" y="3310128"/>
            <a:ext cx="38862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92040" y="3383280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 conservadora, alineada con costo 5:1. En producción, el banco calibraría el corte según su apetito de riesgo e implementaría una zona de revisión manual para scores cercanos al corte.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8321040" y="48920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9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1945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PERFILES DE RIESGO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43891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Perfil de alto riesgo vs. perfil de bajo riesgo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1170432"/>
            <a:ext cx="82296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846320" y="1170432"/>
            <a:ext cx="0" cy="393192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43584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 RIESGO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029200" y="1243584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BAJO RIESGO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02920" y="1444752"/>
            <a:ext cx="8229600" cy="0"/>
          </a:xfrm>
          <a:prstGeom prst="line">
            <a:avLst/>
          </a:prstGeom>
          <a:noFill/>
          <a:ln w="9525">
            <a:solidFill>
              <a:srgbClr val="0B254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499616"/>
            <a:ext cx="8229600" cy="429768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517904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crediticio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508760" y="1517904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créditos previos (A30)  ·  62.5%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029200" y="1517904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 crítica / otros bancos (A34)  ·  17.1%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02920" y="1975104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Duración del crédito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508760" y="1975104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Plazo largo  (media 24.9 meses)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029200" y="1975104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Plazo corto  (media 19.2 meses)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02920" y="2414016"/>
            <a:ext cx="8229600" cy="429768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432304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Ahorros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508760" y="2432304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de 100 DM (A61)  ·  36.0%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029200" y="2432304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1.000 DM (A64)  ·  12.5%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02920" y="2889504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Empleo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508760" y="2889504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de 1 año (A72)  ·  40.7%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029200" y="2889504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 7 años (A74)  ·  22.4%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02920" y="3328416"/>
            <a:ext cx="8229600" cy="429768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346704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Propósito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508760" y="3346704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Educación (A46)  ·  44.0%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029200" y="3346704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usado (A41)  ·  16.5%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02920" y="3803904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Propiedad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508760" y="3803904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propiedad (A124)  ·  43.5%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029200" y="3803904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Inmueble propio (A121)  ·  21.3%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02920" y="4242816"/>
            <a:ext cx="8229600" cy="429768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4261104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Vivienda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508760" y="4261104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Alquiler (A151)  ·  39.1%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029200" y="4261104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Vivienda propia (A152)  ·  26.1%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8321040" y="48920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9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1945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CONCLUSIONES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43891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Conclusiones del trabajo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1170432"/>
            <a:ext cx="82296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316736"/>
            <a:ext cx="36576" cy="98755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0936" y="1316736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Objetivo logrado — costo de 300 reducido a 137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30936" y="1591056"/>
            <a:ext cx="4069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threshold 0.26, el modelo detecta 55 de los 60 malos pagadores en test (recall 91.7%). Esos 55 créditos habrían sido aprobados y entrado en mora.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02920" y="2414016"/>
            <a:ext cx="4069080" cy="0"/>
          </a:xfrm>
          <a:prstGeom prst="line">
            <a:avLst/>
          </a:prstGeom>
          <a:noFill/>
          <a:ln w="5080">
            <a:solidFill>
              <a:srgbClr val="D1D5D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46320" y="1316736"/>
            <a:ext cx="36576" cy="987552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74336" y="1316736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14 / 20 variables aportan poder predictivo real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974336" y="1591056"/>
            <a:ext cx="4069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 entre 0.025 y 0.291. Top 4: historial_credito (0.291), duracion_meses (0.213), ahorros (0.188), proposito (0.152). L1 eliminó 15 de 38 coeficientes automáticamente.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846320" y="2414016"/>
            <a:ext cx="4069080" cy="0"/>
          </a:xfrm>
          <a:prstGeom prst="line">
            <a:avLst/>
          </a:prstGeom>
          <a:noFill/>
          <a:ln w="5080">
            <a:solidFill>
              <a:srgbClr val="D1D5D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2505456"/>
            <a:ext cx="36576" cy="98755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" y="2505456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El threshold óptimo no es 0.50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30936" y="2779776"/>
            <a:ext cx="4069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función 5×FN + 1×FP desplaza el corte a 0.26. El accuracy cae al 41%, pero ese número es irrelevante: el objetivo correcto es minimizar el costo total.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02920" y="3602736"/>
            <a:ext cx="4069080" cy="0"/>
          </a:xfrm>
          <a:prstGeom prst="line">
            <a:avLst/>
          </a:prstGeom>
          <a:noFill/>
          <a:ln w="5080">
            <a:solidFill>
              <a:srgbClr val="D1D5D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46320" y="2505456"/>
            <a:ext cx="36576" cy="987552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74336" y="2505456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cuenta_corriente excluida por IV = 0.659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74336" y="2779776"/>
            <a:ext cx="4069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 discriminante bivariado pero supera IV_MAX = 0.60. Un IV tan alto en 1.000 registros puede indicar sesgo de selección o endogeneidad en los datos.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846320" y="3602736"/>
            <a:ext cx="4069080" cy="0"/>
          </a:xfrm>
          <a:prstGeom prst="line">
            <a:avLst/>
          </a:prstGeom>
          <a:noFill/>
          <a:ln w="5080">
            <a:solidFill>
              <a:srgbClr val="D1D5D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" y="3694176"/>
            <a:ext cx="36576" cy="98755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0936" y="3694176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AUC = 0.71 · limitaciones del dataset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30936" y="3968496"/>
            <a:ext cx="4069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Aceptable para muestra chica de los años '90. Modelos no lineales (RF, XGBoost) mejorarían discriminación pero perderían interpretabilidad y scorecard auditable.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846320" y="3694176"/>
            <a:ext cx="36576" cy="987552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74336" y="3694176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El scorecard traduce el modelo al lenguaje del banco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974336" y="3968496"/>
            <a:ext cx="4069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423–572 pts. Corte en 517.3 pts. PDO = 20: cada 20 pts de caída duplica el riesgo. Solo el 16.5% aprueba — política conservadora alineada con el costo 5:1.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321040" y="48920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126480" cy="5143500"/>
          </a:xfrm>
          <a:prstGeom prst="rect">
            <a:avLst/>
          </a:prstGeom>
          <a:solidFill>
            <a:srgbClr val="F9F8F6"/>
          </a:solidFill>
          <a:ln w="12700">
            <a:solidFill>
              <a:srgbClr val="F9F8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126480" cy="6400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 ·  A42  ·  TP2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713232"/>
            <a:ext cx="5394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Gracias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502920" y="1965960"/>
            <a:ext cx="5394960" cy="0"/>
          </a:xfrm>
          <a:prstGeom prst="line">
            <a:avLst/>
          </a:prstGeom>
          <a:noFill/>
          <a:ln w="12700">
            <a:solidFill>
              <a:srgbClr val="0B25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084832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 Credit Dataset  ·  Prof. Dr. Hans Hofmann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2359152"/>
            <a:ext cx="5394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Universität Hamburg  ·  1994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02920" y="30175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453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300 → 137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02920" y="343814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total  (−54.3%)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017520" y="30175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453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55 / 60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017520" y="343814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malos detectados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02920" y="376732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0.71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02920" y="418795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 en test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017520" y="376732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/ 20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017520" y="418795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seleccionadas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02920" y="4773168"/>
            <a:ext cx="539496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4809744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de Crédito  ·  Credit Scoring  ·  Regresión Logística L1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400800" y="25603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spc="200" kern="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EJECUTIVO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6400800" y="566928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Modelo: Logística L1,  C = 0.1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400800" y="1097280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Split: 60 / 20 / 20  estratificado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400800" y="1627632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Features: 14 de 20  (IV 0.02–0.60)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400800" y="2157984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Threshold óptimo: 0.26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400800" y="2688336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Reducción de costo: −54.3%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400800" y="3218688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Scorecard: 423–572 pts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400800" y="3749040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de corte: 517.3 pts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321040" y="48920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14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Análisis de Riesgo de Crédito — Banco Alemán</dc:title>
  <dc:subject>PptxGenJS Presentation</dc:subject>
  <dc:creator>PptxGenJS</dc:creator>
  <cp:lastModifiedBy>PptxGenJS</cp:lastModifiedBy>
  <cp:revision>1</cp:revision>
  <dcterms:created xsi:type="dcterms:W3CDTF">2026-03-19T15:00:39Z</dcterms:created>
  <dcterms:modified xsi:type="dcterms:W3CDTF">2026-03-19T15:00:39Z</dcterms:modified>
</cp:coreProperties>
</file>